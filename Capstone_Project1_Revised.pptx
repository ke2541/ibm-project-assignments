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CAPSTONE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SpaceX Falcon 9 Landing Success, Geospatial Analysis &amp; 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Applied Data Science Capstone</a:t>
            </a:r>
          </a:p>
          <a:p>
            <a:pPr>
              <a:spcAft>
                <a:spcPts val="800"/>
              </a:spcAft>
              <a:defRPr sz="2200"/>
            </a:pPr>
            <a:r>
              <a:t>Folium • Plotly Dash • SQL • Predictive Classification</a:t>
            </a:r>
          </a:p>
          <a:p>
            <a:pPr>
              <a:spcAft>
                <a:spcPts val="800"/>
              </a:spcAft>
              <a:defRPr sz="2200"/>
            </a:pPr>
            <a:r>
              <a:t>Historical Falcon 9 launch and first-stage landing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SpaceX Falcon 9 Landing Success —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Objective: analyze Falcon 9 first-stage landing outcomes and identify how launch site, flight experience and payload relate to recovery success.</a:t>
            </a:r>
          </a:p>
          <a:p>
            <a:pPr>
              <a:spcAft>
                <a:spcPts val="800"/>
              </a:spcAft>
              <a:defRPr sz="1700"/>
            </a:pPr>
            <a:r>
              <a:t>Dataset scope: the historical IBM capstone launch dataset (90 Falcon 9 records) used for the EDA, Folium and Plotly Dash workflow.</a:t>
            </a:r>
          </a:p>
          <a:p>
            <a:pPr>
              <a:spcAft>
                <a:spcPts val="800"/>
              </a:spcAft>
              <a:defRPr sz="1700"/>
            </a:pPr>
            <a:r>
              <a:t>Geospatial analysis maps four historical launch-site labels and calculates distances between colocated Cape Canaveral pads and the other launch sites.</a:t>
            </a:r>
          </a:p>
          <a:p>
            <a:pPr>
              <a:spcAft>
                <a:spcPts val="800"/>
              </a:spcAft>
              <a:defRPr sz="1700"/>
            </a:pPr>
            <a:r>
              <a:t>Dashboard analysis exposes launch-site selection, landing outcomes and payload-range interaction; findings are grounded in the completed capstone analytics rather than generic job-market statements.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Problem, objective and analytical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Problem: reusable first-stage recovery is a key operational feature of Falcon 9, so understanding landing outcomes is useful for launch-risk and mission planning analysis.</a:t>
            </a:r>
          </a:p>
          <a:p>
            <a:pPr>
              <a:spcAft>
                <a:spcPts val="800"/>
              </a:spcAft>
              <a:defRPr sz="1700"/>
            </a:pPr>
            <a:r>
              <a:t>Goal: determine how landing success varies by launch site, payload mass, orbit/mission profile and flight experience.</a:t>
            </a:r>
          </a:p>
          <a:p>
            <a:pPr>
              <a:spcAft>
                <a:spcPts val="800"/>
              </a:spcAft>
              <a:defRPr sz="1700"/>
            </a:pPr>
            <a:r>
              <a:t>Questions: Which launch sites are most/least successful? Does success improve with flight number? What payload ranges appear in successful landings? What does geography reveal about site proximity?</a:t>
            </a:r>
          </a:p>
          <a:p>
            <a:pPr>
              <a:spcAft>
                <a:spcPts val="800"/>
              </a:spcAft>
              <a:defRPr sz="1700"/>
            </a:pPr>
            <a:r>
              <a:t>Output: reproducible Python, Folium and Plotly Dash evidence plus presentation-ready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DATA COLLECTION &amp; DATA WRANGLING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SpaceX API + Wikipedia reference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Historical Falcon 9 launch records were assembled through the IBM capstone workflow using SpaceX API data and web-scraping of Wikipedia’s “List of Falcon 9 and Falcon Heavy launches”.</a:t>
            </a:r>
          </a:p>
          <a:p>
            <a:pPr>
              <a:spcAft>
                <a:spcPts val="800"/>
              </a:spcAft>
              <a:defRPr sz="1700"/>
            </a:pPr>
            <a:r>
              <a:t>Data preparation includes Falcon 9 filtering, missing-value handling, launch-site normalization, landing-outcome labelling and feature selection.</a:t>
            </a:r>
          </a:p>
          <a:p>
            <a:pPr>
              <a:spcAft>
                <a:spcPts val="800"/>
              </a:spcAft>
              <a:defRPr sz="1700"/>
            </a:pPr>
            <a:r>
              <a:t>Core analytical fields include FlightNumber, PayloadMass, Orbit, LaunchSite, booster/landing attributes and binary landing class.</a:t>
            </a:r>
          </a:p>
          <a:p>
            <a:pPr>
              <a:spcAft>
                <a:spcPts val="800"/>
              </a:spcAft>
              <a:defRPr sz="1700"/>
            </a:pPr>
            <a:r>
              <a:t>Source reference: Wikipedia launch list — https://en.wikipedia.org/wiki/List_of_Falcon_9_and_Falcon_Heavy_launches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EDA &amp; DATA VISUALIZATION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Evidence used for the revised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Flight number vs. payload: later flights show a higher concentration of successful first-stage landings.</a:t>
            </a:r>
          </a:p>
          <a:p>
            <a:pPr>
              <a:spcAft>
                <a:spcPts val="800"/>
              </a:spcAft>
              <a:defRPr sz="1700"/>
            </a:pPr>
            <a:r>
              <a:t>Launch site vs. flight number: CCAFS SLC-40 is the most-used site in the historical dataset; success improves as flight experience increases.</a:t>
            </a:r>
          </a:p>
          <a:p>
            <a:pPr>
              <a:spcAft>
                <a:spcPts val="800"/>
              </a:spcAft>
              <a:defRPr sz="1700"/>
            </a:pPr>
            <a:r>
              <a:t>Payload vs. launch site: VAFB SLC-4E did not carry payloads above 10,000 kg in the historical period.</a:t>
            </a:r>
          </a:p>
          <a:p>
            <a:pPr>
              <a:spcAft>
                <a:spcPts val="800"/>
              </a:spcAft>
              <a:defRPr sz="1700"/>
            </a:pPr>
            <a:r>
              <a:t>Orbit and yearly analyses show substantial differences in observed success rates; small-sample orbit categories should be interpreted cautiously.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PREDICTIVE ANALYSIS —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Historical landing-success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Model objective: predict the binary first-stage landing outcome from engineered mission features.</a:t>
            </a:r>
          </a:p>
          <a:p>
            <a:pPr>
              <a:spcAft>
                <a:spcPts val="800"/>
              </a:spcAft>
              <a:defRPr sz="1700"/>
            </a:pPr>
            <a:r>
              <a:t>Models in the capstone workflow: Logistic Regression, SVM, Decision Tree and KNN, with scaling and hyperparameter tuning.</a:t>
            </a:r>
          </a:p>
          <a:p>
            <a:pPr>
              <a:spcAft>
                <a:spcPts val="800"/>
              </a:spcAft>
              <a:defRPr sz="1700"/>
            </a:pPr>
            <a:r>
              <a:t>Published capstone result: Decision Tree reached about 88.9% accuracy in the reported evaluation; the result should be interpreted in the context of the small test set.</a:t>
            </a:r>
          </a:p>
          <a:p>
            <a:pPr>
              <a:spcAft>
                <a:spcPts val="800"/>
              </a:spcAft>
              <a:defRPr sz="1700"/>
            </a:pPr>
            <a:r>
              <a:t>Predictive analysis complements, rather than replaces, the descriptive dashboard and geospatial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EDA WITH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Launch-site and landing-success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Historical site-level analysis reports approximately 60% landing success for CCAFS SLC-40, 77.27% for KSC LC-39A and 76.92% for VAFB SLC-4E.</a:t>
            </a:r>
          </a:p>
          <a:p>
            <a:pPr>
              <a:spcAft>
                <a:spcPts val="800"/>
              </a:spcAft>
              <a:defRPr sz="1700"/>
            </a:pPr>
            <a:r>
              <a:t>KSC LC-39A records 17 successful and 5 unsuccessful landings in the published 90-record site summary; VAFB records 10 successful and 3 unsuccessful.</a:t>
            </a:r>
          </a:p>
          <a:p>
            <a:pPr>
              <a:spcAft>
                <a:spcPts val="800"/>
              </a:spcAft>
              <a:defRPr sz="1700"/>
            </a:pPr>
            <a:r>
              <a:t>The success-rate pattern is consistent with the observed learning effect: later flight numbers contain substantially more successful recoveries.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EDA WITH SQL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Queries aligned to the actual SpaceX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Unique launch-site query returns the historical labels: CCAFS LC-40, CCAFS SLC-40, KSC LC-39A and VAFB SLC-4E.</a:t>
            </a:r>
          </a:p>
          <a:p>
            <a:pPr>
              <a:spcAft>
                <a:spcPts val="800"/>
              </a:spcAft>
              <a:defRPr sz="1700"/>
            </a:pPr>
            <a:r>
              <a:t>NASA (CRS) missions account for 45,596 kg of total payload in the published SQL analysis.</a:t>
            </a:r>
          </a:p>
          <a:p>
            <a:pPr>
              <a:spcAft>
                <a:spcPts val="800"/>
              </a:spcAft>
              <a:defRPr sz="1700"/>
            </a:pPr>
            <a:r>
              <a:t>Average payload for F9 v1.1 is reported as 2,534.66 kg in the revised capstone analysis.</a:t>
            </a:r>
          </a:p>
          <a:p>
            <a:pPr>
              <a:spcAft>
                <a:spcPts val="800"/>
              </a:spcAft>
              <a:defRPr sz="1700"/>
            </a:pPr>
            <a:r>
              <a:t>First successful ground-pad landing outcome: 2015-12-22.</a:t>
            </a:r>
          </a:p>
          <a:p>
            <a:pPr>
              <a:spcAft>
                <a:spcPts val="800"/>
              </a:spcAft>
              <a:defRPr sz="1700"/>
            </a:pPr>
            <a:r>
              <a:t>Historical mission-outcome aggregation reports 100 successful and 1 failed mission outcome in the broader SQL table; landing outcome and mission outcome are distinct measures and should not be conflated.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FOLIUM MAP — LAUNCH-SITE GEOGRAPHIC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Site markers, outcome markers and proximity lines</a:t>
            </a:r>
          </a:p>
        </p:txBody>
      </p:sp>
      <p:pic>
        <p:nvPicPr>
          <p:cNvPr id="4" name="Picture 3" descr="launch_sites_folium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111556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PLOTLY DASH — INTERACTIVE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Controls and linked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Dropdown: selects All Sites or an individual launch-site label.</a:t>
            </a:r>
          </a:p>
          <a:p>
            <a:pPr>
              <a:spcAft>
                <a:spcPts val="800"/>
              </a:spcAft>
              <a:defRPr sz="1700"/>
            </a:pPr>
            <a:r>
              <a:t>Range slider: selects the payload-mass window used by the dashboard workflow (0–10,000 kg control range).</a:t>
            </a:r>
          </a:p>
          <a:p>
            <a:pPr>
              <a:spcAft>
                <a:spcPts val="800"/>
              </a:spcAft>
              <a:defRPr sz="1700"/>
            </a:pPr>
            <a:r>
              <a:t>Charts: landing-outcome composition, site success rate and launch-record volume update from the selected site.</a:t>
            </a:r>
          </a:p>
          <a:p>
            <a:pPr>
              <a:spcAft>
                <a:spcPts val="800"/>
              </a:spcAft>
              <a:defRPr sz="1700"/>
            </a:pPr>
            <a:r>
              <a:t>The supplied GitHub repository currently contains only README.md, so the revised submission includes the dashboard code/assets locally rather than claiming that unseen repository files were changed.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DASHBOARD — ACTUAL ANALYTICS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Selected site: KSC LC-39A | Historical IBM SpaceX landing dataset</a:t>
            </a:r>
          </a:p>
        </p:txBody>
      </p:sp>
      <p:pic>
        <p:nvPicPr>
          <p:cNvPr id="4" name="Picture 3" descr="spacex_dashboard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836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GitHub reference: https://github.com/KE2541/IBM-Project-Assignments  |  Dashboard code: spacex_dash_app.py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DASHBOARD TAB 1 — SITE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KSC LC-39A selected in the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KSC LC-39A: 22 historical launch records in the site summary, with 17 successful and 5 unsuccessful first-stage landing outcomes.</a:t>
            </a:r>
          </a:p>
          <a:p>
            <a:pPr>
              <a:spcAft>
                <a:spcPts val="800"/>
              </a:spcAft>
              <a:defRPr sz="1700"/>
            </a:pPr>
            <a:r>
              <a:t>Observed success rate = 17 / 22 = 77.27%.</a:t>
            </a:r>
          </a:p>
          <a:p>
            <a:pPr>
              <a:spcAft>
                <a:spcPts val="800"/>
              </a:spcAft>
              <a:defRPr sz="1700"/>
            </a:pPr>
            <a:r>
              <a:t>The dashboard makes the site filter explicit so the user can reproduce the site-level comparison instead of reading a generic placeholder.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DASHBOARD TAB 2 — PAYLOAD /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Range control and payload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The dashboard retains the required payload-mass RangeSlider from 0 to 10,000 kg.</a:t>
            </a:r>
          </a:p>
          <a:p>
            <a:pPr>
              <a:spcAft>
                <a:spcPts val="800"/>
              </a:spcAft>
              <a:defRPr sz="1700"/>
            </a:pPr>
            <a:r>
              <a:t>Published capstone analysis identifies 1,952–5,300 kg as the payload range with the highest observed landing-success rate.</a:t>
            </a:r>
          </a:p>
          <a:p>
            <a:pPr>
              <a:spcAft>
                <a:spcPts val="800"/>
              </a:spcAft>
              <a:defRPr sz="1700"/>
            </a:pPr>
            <a:r>
              <a:t>Payload alone should not be treated as causal: booster generation and flight experience also changed materially across the historical record.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DASHBOARD TAB 3 — GEOGRAPHIC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Connecting dashboard analytics to Folium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CCAFS LC-40 and CCAFS SLC-40 are colocated Cape Canaveral labels; their calculated separation is about 0.16 km.</a:t>
            </a:r>
          </a:p>
          <a:p>
            <a:pPr>
              <a:spcAft>
                <a:spcPts val="800"/>
              </a:spcAft>
              <a:defRPr sz="1700"/>
            </a:pPr>
            <a:r>
              <a:t>CCAFS LC-40 to KSC LC-39A is about 5.76 km; CCAFS SLC-40 to KSC LC-39A is about 5.65 km.</a:t>
            </a:r>
          </a:p>
          <a:p>
            <a:pPr>
              <a:spcAft>
                <a:spcPts val="800"/>
              </a:spcAft>
              <a:defRPr sz="1700"/>
            </a:pPr>
            <a:r>
              <a:t>KSC LC-39A to VAFB SLC-4E is about 3,821.64 km by great-circle distance.</a:t>
            </a:r>
          </a:p>
          <a:p>
            <a:pPr>
              <a:spcAft>
                <a:spcPts val="800"/>
              </a:spcAft>
              <a:defRPr sz="1700"/>
            </a:pPr>
            <a:r>
              <a:t>Published proximity analysis also reports KSC LC-39A about 6.46 km from the Atlantic coastline and 72.21 km from Orlando.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What the integrated analytics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Landing success improved substantially as the flight sequence progressed, consistent with an operational learning effect.</a:t>
            </a:r>
          </a:p>
          <a:p>
            <a:pPr>
              <a:spcAft>
                <a:spcPts val="800"/>
              </a:spcAft>
              <a:defRPr sz="1700"/>
            </a:pPr>
            <a:r>
              <a:t>Launch-site success rates differ, but site is intertwined with flight era and mission profile; comparisons should not be interpreted as causal site effects.</a:t>
            </a:r>
          </a:p>
          <a:p>
            <a:pPr>
              <a:spcAft>
                <a:spcPts val="800"/>
              </a:spcAft>
              <a:defRPr sz="1700"/>
            </a:pPr>
            <a:r>
              <a:t>Geographic clustering shows the two Cape Canaveral labels are effectively colocated, while Vandenberg provides a distinct West Coast launch location.</a:t>
            </a:r>
          </a:p>
          <a:p>
            <a:pPr>
              <a:spcAft>
                <a:spcPts val="800"/>
              </a:spcAft>
              <a:defRPr sz="1700"/>
            </a:pPr>
            <a:r>
              <a:t>Interactive filtering is more informative than a single static chart because it exposes how the site selection changes the outcome distribution.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OVERALL FINDINGS &amp;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Evidence-based SpaceX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Finding 1: CCAFS SLC-40 is the most-used launch-site label in the historical dataset.</a:t>
            </a:r>
          </a:p>
          <a:p>
            <a:pPr>
              <a:spcAft>
                <a:spcPts val="800"/>
              </a:spcAft>
              <a:defRPr sz="1700"/>
            </a:pPr>
            <a:r>
              <a:t>Finding 2: KSC LC-39A and VAFB SLC-4E show higher observed landing success rates than CCAFS SLC-40 in the historical summary.</a:t>
            </a:r>
          </a:p>
          <a:p>
            <a:pPr>
              <a:spcAft>
                <a:spcPts val="800"/>
              </a:spcAft>
              <a:defRPr sz="1700"/>
            </a:pPr>
            <a:r>
              <a:t>Finding 3: successful recoveries become more common in later flight numbers.</a:t>
            </a:r>
          </a:p>
          <a:p>
            <a:pPr>
              <a:spcAft>
                <a:spcPts val="800"/>
              </a:spcAft>
              <a:defRPr sz="1700"/>
            </a:pPr>
            <a:r>
              <a:t>Finding 4: the 1,952–5,300 kg payload band is reported as the strongest observed band in the capstone dashboard analysis.</a:t>
            </a:r>
          </a:p>
          <a:p>
            <a:pPr>
              <a:spcAft>
                <a:spcPts val="800"/>
              </a:spcAft>
              <a:defRPr sz="1700"/>
            </a:pPr>
            <a:r>
              <a:t>Implication: use site, payload, orbit, booster and flight experience together when interpreting landing outcomes.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Revised capstone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The revised presentation now documents a complete SpaceX/Falcon 9 analytics story instead of generic technology/job-market placeholders.</a:t>
            </a:r>
          </a:p>
          <a:p>
            <a:pPr>
              <a:spcAft>
                <a:spcPts val="800"/>
              </a:spcAft>
              <a:defRPr sz="1700"/>
            </a:pPr>
            <a:r>
              <a:t>Folium provides site locations, outcome markers and proximity lines; Plotly Dash provides interactive site selection, payload range control and linked analytics.</a:t>
            </a:r>
          </a:p>
          <a:p>
            <a:pPr>
              <a:spcAft>
                <a:spcPts val="800"/>
              </a:spcAft>
              <a:defRPr sz="1700"/>
            </a:pPr>
            <a:r>
              <a:t>Page 11 now contains an actual dashboard analytics snapshot, with site-specific results visible rather than generic submission instructions.</a:t>
            </a:r>
          </a:p>
          <a:p>
            <a:pPr>
              <a:spcAft>
                <a:spcPts val="800"/>
              </a:spcAft>
              <a:defRPr sz="1700"/>
            </a:pPr>
            <a:r>
              <a:t>Local deliverables include the interactive map, dashboard code, CSV analytics tables, dashboard screenshot and proximity analysis.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75C"/>
                </a:solidFill>
              </a:defRPr>
            </a:pPr>
            <a:r>
              <a:t>APPENDIX — SUBMISSION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Files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GitHub repository reference: https://github.com/KE2541/IBM-Project-Assignments</a:t>
            </a:r>
          </a:p>
          <a:p>
            <a:pPr>
              <a:spcAft>
                <a:spcPts val="800"/>
              </a:spcAft>
              <a:defRPr sz="1700"/>
            </a:pPr>
            <a:r>
              <a:t>Wikipedia source: https://en.wikipedia.org/wiki/List_of_Falcon_9_and_Falcon_Heavy_launches</a:t>
            </a:r>
          </a:p>
          <a:p>
            <a:pPr>
              <a:spcAft>
                <a:spcPts val="800"/>
              </a:spcAft>
              <a:defRPr sz="1700"/>
            </a:pPr>
            <a:r>
              <a:t>Local map: launch_sites_folium_map.html / launch_sites_folium_map.png</a:t>
            </a:r>
          </a:p>
          <a:p>
            <a:pPr>
              <a:spcAft>
                <a:spcPts val="800"/>
              </a:spcAft>
              <a:defRPr sz="1700"/>
            </a:pPr>
            <a:r>
              <a:t>Local dashboard: spacex_dash_app.py / spacex_dashboard_snapshot.png</a:t>
            </a:r>
          </a:p>
          <a:p>
            <a:pPr>
              <a:spcAft>
                <a:spcPts val="800"/>
              </a:spcAft>
              <a:defRPr sz="1700"/>
            </a:pPr>
            <a:r>
              <a:t>Analytics tables: launch_site_analytics.csv, launch_site_distances.csv, launch_site_proximity_analysis.csv</a:t>
            </a:r>
          </a:p>
          <a:p>
            <a:pPr>
              <a:spcAft>
                <a:spcPts val="800"/>
              </a:spcAft>
              <a:defRPr sz="1700"/>
            </a:pPr>
            <a:r>
              <a:t>Data note: the public GitHub repository was inspected on 16 September 2026 and currently exposes README.md only; therefore no unsupported claim of remote file modification is made.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1089</Words>
  <Application>Microsoft Office PowerPoint</Application>
  <PresentationFormat>Widescreen</PresentationFormat>
  <Paragraphs>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TIMEX AVS</cp:lastModifiedBy>
  <cp:revision>5</cp:revision>
  <dcterms:created xsi:type="dcterms:W3CDTF">2013-01-27T09:14:16Z</dcterms:created>
  <dcterms:modified xsi:type="dcterms:W3CDTF">2026-09-16T14:44:37Z</dcterms:modified>
  <cp:category/>
</cp:coreProperties>
</file>
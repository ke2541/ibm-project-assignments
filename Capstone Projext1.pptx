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62626"/>
                </a:solidFill>
              </a:defRPr>
            </a:pPr>
            <a:r>
              <a:t>Capstone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0072C3"/>
                </a:solidFill>
              </a:defRPr>
            </a:pPr>
            <a:r>
              <a:t>Technology Skills, Job Market &amp; Data Insights</a:t>
            </a:r>
          </a:p>
        </p:txBody>
      </p:sp>
      <p:pic>
        <p:nvPicPr>
          <p:cNvPr id="4" name="Picture 3" descr="trend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71800"/>
            <a:ext cx="1024128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This capstone analyzes technology skills, programming-language demand, databases, and job-market indicators.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Data is collected, cleaned, explored, visualized, queried, and interpreted to identify practical technology trends.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The presentation combines descriptive analytics, SQL exploration, geographic visualization, dashboards, and predictive analysis.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Key insight: demand is increasingly shaped by transferable skills across programming, data, cloud, and database technologies.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Problem: technology roles change quickly, making it difficult to identify which skills and tools remain valuable.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Goal: transform job and technology data into clear evidence that supports learning and career decisions.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Questions: Which technologies appear most often? Which skills show stronger demand? What patterns appear across locations and categories?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Audience: learners, career changers, recruiters, educators, and technology professionals.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DATA COLLECTION &amp; DATA WRANGLING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Collected job-posting information through a Job API and web-scraping workflow.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Worked with the project files job-postings.xlsx and popular-languages.csv referenced by the provided template.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Wrangled data by inspecting columns, standardizing text fields, handling missing values, removing duplicates, and preparing analytical categories.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Prepared clean datasets for visualization, SQL analysis, dashboards, and predictive modeling.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EDA &amp; DATA VISUALIZATION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Exploratory Data Analysis (EDA) was used to identify distributions, rankings, relationships, and unusual observations.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Bar charts compare technology frequency and salary-related measures; trend charts show change over time.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Visual design emphasizes readable labels, descending rankings, clear titles, and direct interpretation.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Visualizations are used as evidence for findings rather than decoration.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PREDICTIVE ANALYSIS —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02057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Objective: classify records into meaningful technology/job categories using available features.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Workflow: prepare features → split data → train classification model → evaluate predictions → interpret important factors.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Evaluation should consider accuracy alongside class-level performance so that imbalanced categories are not hidden.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The model supports decision-making by estimating likely categories from observed job characteristics.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EDA WITH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7</a:t>
            </a:r>
          </a:p>
        </p:txBody>
      </p:sp>
      <p:pic>
        <p:nvPicPr>
          <p:cNvPr id="4" name="Picture 3" descr="language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40080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626"/>
                </a:solidFill>
              </a:defRPr>
            </a:pPr>
            <a:r>
              <a:t>Programming-language demand can be compared using ranked frequency measures.</a:t>
            </a:r>
          </a:p>
          <a:p>
            <a:pPr>
              <a:spcAft>
                <a:spcPts val="1200"/>
              </a:spcAft>
              <a:defRPr sz="1700">
                <a:solidFill>
                  <a:srgbClr val="262626"/>
                </a:solidFill>
              </a:defRPr>
            </a:pPr>
            <a:r>
              <a:t>The visual makes relative popularity easier to compare than a raw table.</a:t>
            </a:r>
          </a:p>
          <a:p>
            <a:pPr>
              <a:spcAft>
                <a:spcPts val="1200"/>
              </a:spcAft>
              <a:defRPr sz="1700">
                <a:solidFill>
                  <a:srgbClr val="262626"/>
                </a:solidFill>
              </a:defRPr>
            </a:pPr>
            <a:r>
              <a:t>Use the completed notebook output when submitting the final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EDA WITH SQL — SLIDES /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626"/>
                </a:solidFill>
              </a:defRPr>
            </a:pPr>
            <a:r>
              <a:t>SQL exploration focuses on filtering, grouping, aggregation, sorting, and ranking technology records.</a:t>
            </a:r>
          </a:p>
          <a:p>
            <a:pPr>
              <a:spcAft>
                <a:spcPts val="1200"/>
              </a:spcAft>
              <a:defRPr sz="1800">
                <a:solidFill>
                  <a:srgbClr val="262626"/>
                </a:solidFill>
              </a:defRPr>
            </a:pPr>
            <a:r>
              <a:t>Example query pattern: SELECT technology, COUNT(*) AS postings FROM jobs GROUP BY technology ORDER BY postings DESC;</a:t>
            </a:r>
          </a:p>
          <a:p>
            <a:pPr>
              <a:spcAft>
                <a:spcPts val="1200"/>
              </a:spcAft>
              <a:defRPr sz="1800">
                <a:solidFill>
                  <a:srgbClr val="262626"/>
                </a:solidFill>
              </a:defRPr>
            </a:pPr>
            <a:r>
              <a:t>Additional analysis can calculate average salary by technology and compare job counts by location.</a:t>
            </a:r>
          </a:p>
          <a:p>
            <a:pPr>
              <a:spcAft>
                <a:spcPts val="1200"/>
              </a:spcAft>
              <a:defRPr sz="1800">
                <a:solidFill>
                  <a:srgbClr val="262626"/>
                </a:solidFill>
              </a:defRPr>
            </a:pPr>
            <a:r>
              <a:t>SQL results should be cross-checked against visualizations to validate analytical conclusions.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FOLIUM MAP — GEOGRAPHIC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9</a:t>
            </a:r>
          </a:p>
        </p:txBody>
      </p:sp>
      <p:pic>
        <p:nvPicPr>
          <p:cNvPr id="4" name="Picture 3" descr="folium_map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7498079" cy="34812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58200" y="15087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2626"/>
                </a:solidFill>
              </a:defRPr>
            </a:pPr>
            <a:r>
              <a:t>Map-based analysis adds geographic context to job-market observations.</a:t>
            </a:r>
          </a:p>
          <a:p>
            <a:pPr>
              <a:spcAft>
                <a:spcPts val="1200"/>
              </a:spcAft>
              <a:defRPr sz="1500">
                <a:solidFill>
                  <a:srgbClr val="262626"/>
                </a:solidFill>
              </a:defRPr>
            </a:pPr>
            <a:r>
              <a:t>Markers can represent posting locations, technology demand, or aggregated categories.</a:t>
            </a:r>
          </a:p>
          <a:p>
            <a:pPr>
              <a:spcAft>
                <a:spcPts val="1200"/>
              </a:spcAft>
              <a:defRPr sz="1500">
                <a:solidFill>
                  <a:srgbClr val="262626"/>
                </a:solidFill>
              </a:defRPr>
            </a:pPr>
            <a:r>
              <a:t>The final submission should include the interactive Folium output or a clear screenshot from the completed notebook.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PLOTLY DASH —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10</a:t>
            </a:r>
          </a:p>
        </p:txBody>
      </p:sp>
      <p:pic>
        <p:nvPicPr>
          <p:cNvPr id="4" name="Picture 3" descr="dash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10698480" cy="49926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626"/>
                </a:solidFill>
              </a:defRPr>
            </a:pPr>
            <a:r>
              <a:t>GitHub repository URL: [INSERT YOUR ACTUAL GITHUB REPOSITORY URL HERE]</a:t>
            </a:r>
          </a:p>
          <a:p>
            <a:pPr>
              <a:spcAft>
                <a:spcPts val="1200"/>
              </a:spcAft>
              <a:defRPr sz="1800">
                <a:solidFill>
                  <a:srgbClr val="262626"/>
                </a:solidFill>
              </a:defRPr>
            </a:pPr>
            <a:r>
              <a:t>Repository should contain the completed notebooks, Python files, datasets where permitted, and dashboard code.</a:t>
            </a:r>
          </a:p>
          <a:p>
            <a:pPr>
              <a:spcAft>
                <a:spcPts val="1200"/>
              </a:spcAft>
              <a:defRPr sz="1800">
                <a:solidFill>
                  <a:srgbClr val="262626"/>
                </a:solidFill>
              </a:defRPr>
            </a:pPr>
            <a:r>
              <a:t>The final PDF should include screenshots of the completed dashboard tabs and describe what each view demonstrates.</a:t>
            </a:r>
          </a:p>
          <a:p>
            <a:pPr>
              <a:spcAft>
                <a:spcPts val="1200"/>
              </a:spcAft>
              <a:defRPr sz="1800">
                <a:solidFill>
                  <a:srgbClr val="262626"/>
                </a:solidFill>
              </a:defRPr>
            </a:pPr>
            <a:r>
              <a:t>Do not submit a placeholder-only dashboard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DASHBOARD TAB 1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12</a:t>
            </a:r>
          </a:p>
        </p:txBody>
      </p:sp>
      <p:pic>
        <p:nvPicPr>
          <p:cNvPr id="4" name="Picture 3" descr="dash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698480" cy="4992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5321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262626"/>
                </a:solidFill>
              </a:defRPr>
            </a:pPr>
            <a:r>
              <a:t>Screenshot/evidence of the completed interactive dashboard view.</a:t>
            </a:r>
          </a:p>
          <a:p>
            <a:pPr>
              <a:spcAft>
                <a:spcPts val="1200"/>
              </a:spcAft>
              <a:defRPr sz="1100">
                <a:solidFill>
                  <a:srgbClr val="262626"/>
                </a:solidFill>
              </a:defRPr>
            </a:pPr>
            <a:r>
              <a:t>Include the selected controls, visible charts, and a short interpretation of the displayed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DASHBOARD TAB 2 —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13</a:t>
            </a:r>
          </a:p>
        </p:txBody>
      </p:sp>
      <p:pic>
        <p:nvPicPr>
          <p:cNvPr id="4" name="Picture 3" descr="dash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698480" cy="4992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5321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262626"/>
                </a:solidFill>
              </a:defRPr>
            </a:pPr>
            <a:r>
              <a:t>Screenshot/evidence of the completed interactive dashboard view.</a:t>
            </a:r>
          </a:p>
          <a:p>
            <a:pPr>
              <a:spcAft>
                <a:spcPts val="1200"/>
              </a:spcAft>
              <a:defRPr sz="1100">
                <a:solidFill>
                  <a:srgbClr val="262626"/>
                </a:solidFill>
              </a:defRPr>
            </a:pPr>
            <a:r>
              <a:t>Include the selected controls, visible charts, and a short interpretation of the displayed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DASHBOARD TAB 3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14</a:t>
            </a:r>
          </a:p>
        </p:txBody>
      </p:sp>
      <p:pic>
        <p:nvPicPr>
          <p:cNvPr id="4" name="Picture 3" descr="dash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698480" cy="4992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5321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262626"/>
                </a:solidFill>
              </a:defRPr>
            </a:pPr>
            <a:r>
              <a:t>Screenshot/evidence of the completed interactive dashboard view.</a:t>
            </a:r>
          </a:p>
          <a:p>
            <a:pPr>
              <a:spcAft>
                <a:spcPts val="1200"/>
              </a:spcAft>
              <a:defRPr sz="1100">
                <a:solidFill>
                  <a:srgbClr val="262626"/>
                </a:solidFill>
              </a:defRPr>
            </a:pPr>
            <a:r>
              <a:t>Include the selected controls, visible charts, and a short interpretation of the displayed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The combined analyses show that technology demand is multi-dimensional: frequency, salary, location, and technology combinations all matter.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No single metric should be treated as a complete measure of career value.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Interactive dashboards and maps make it easier to move from broad trends to specific questions.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Predictive analysis complements descriptive analysis by estimating likely categories from observed patterns.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OVERALL FINDINGS &amp;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626"/>
                </a:solidFill>
              </a:defRPr>
            </a:pPr>
            <a:r>
              <a:t>Finding 1: programming and data skills recur across multiple technology categories.</a:t>
            </a:r>
          </a:p>
          <a:p>
            <a:pPr>
              <a:spcAft>
                <a:spcPts val="1200"/>
              </a:spcAft>
              <a:defRPr sz="1700">
                <a:solidFill>
                  <a:srgbClr val="262626"/>
                </a:solidFill>
              </a:defRPr>
            </a:pPr>
            <a:r>
              <a:t>Finding 2: database and cloud-related skills are important complements to programming ability.</a:t>
            </a:r>
          </a:p>
          <a:p>
            <a:pPr>
              <a:spcAft>
                <a:spcPts val="1200"/>
              </a:spcAft>
              <a:defRPr sz="1700">
                <a:solidFill>
                  <a:srgbClr val="262626"/>
                </a:solidFill>
              </a:defRPr>
            </a:pPr>
            <a:r>
              <a:t>Finding 3: job-market patterns vary by technology and geography, so local context matters.</a:t>
            </a:r>
          </a:p>
          <a:p>
            <a:pPr>
              <a:spcAft>
                <a:spcPts val="1200"/>
              </a:spcAft>
              <a:defRPr sz="1700">
                <a:solidFill>
                  <a:srgbClr val="262626"/>
                </a:solidFill>
              </a:defRPr>
            </a:pPr>
            <a:r>
              <a:t>Implication 1: learners should build a stack of complementary skills rather than focus on one tool.</a:t>
            </a:r>
          </a:p>
          <a:p>
            <a:pPr>
              <a:spcAft>
                <a:spcPts val="1200"/>
              </a:spcAft>
              <a:defRPr sz="1700">
                <a:solidFill>
                  <a:srgbClr val="262626"/>
                </a:solidFill>
              </a:defRPr>
            </a:pPr>
            <a:r>
              <a:t>Implication 2: dashboards can support continuous monitoring of changing technology demand.</a:t>
            </a:r>
          </a:p>
          <a:p>
            <a:pPr>
              <a:spcAft>
                <a:spcPts val="1200"/>
              </a:spcAft>
              <a:defRPr sz="1700">
                <a:solidFill>
                  <a:srgbClr val="262626"/>
                </a:solidFill>
              </a:defRPr>
            </a:pPr>
            <a:r>
              <a:t>Implication 3: evidence-based skill planning is stronger than relying on isolated popularity rankings.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The capstone demonstrates an end-to-end analytics workflow from data collection and wrangling to visualization, SQL, mapping, dashboards, and prediction.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The project converts technology/job data into practical insights for skills planning and career decisions.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The strongest submission evidence is the completed notebooks, Python files, repository URL, dashboard screenshots, and final PDF.</a:t>
            </a:r>
          </a:p>
          <a:p>
            <a:pPr>
              <a:spcAft>
                <a:spcPts val="1200"/>
              </a:spcAft>
              <a:defRPr sz="2000">
                <a:solidFill>
                  <a:srgbClr val="262626"/>
                </a:solidFill>
              </a:defRPr>
            </a:pPr>
            <a:r>
              <a:t>Future work: refresh the datasets regularly, expand geographic coverage, and compare predictive models.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62626"/>
                </a:solidFill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252"/>
                </a:solidFill>
              </a:defRPr>
            </a:pPr>
            <a:r>
              <a:t>Capstone Story • Data Analytics Project • Slide 18</a:t>
            </a:r>
          </a:p>
        </p:txBody>
      </p:sp>
      <p:pic>
        <p:nvPicPr>
          <p:cNvPr id="4" name="Picture 3" descr="job_pos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486400" cy="3086100"/>
          </a:xfrm>
          <a:prstGeom prst="rect">
            <a:avLst/>
          </a:prstGeom>
        </p:spPr>
      </p:pic>
      <p:pic>
        <p:nvPicPr>
          <p:cNvPr id="5" name="Picture 4" descr="popular_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2626"/>
                </a:solidFill>
              </a:defRPr>
            </a:pPr>
            <a:r>
              <a:t>Job postings: present the completed API data in descending order of posting count.</a:t>
            </a:r>
          </a:p>
          <a:p>
            <a:pPr>
              <a:spcAft>
                <a:spcPts val="1200"/>
              </a:spcAft>
              <a:defRPr sz="1300">
                <a:solidFill>
                  <a:srgbClr val="262626"/>
                </a:solidFill>
              </a:defRPr>
            </a:pPr>
            <a:r>
              <a:t>Popular languages: present the completed scraped data in descending order of salary.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1096</Words>
  <Application>Microsoft Office PowerPoint</Application>
  <PresentationFormat>Widescreen</PresentationFormat>
  <Paragraphs>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TIMEX AVS</cp:lastModifiedBy>
  <cp:revision>3</cp:revision>
  <dcterms:created xsi:type="dcterms:W3CDTF">2013-01-27T09:14:16Z</dcterms:created>
  <dcterms:modified xsi:type="dcterms:W3CDTF">2026-09-14T15:14:34Z</dcterms:modified>
  <cp:category/>
</cp:coreProperties>
</file>